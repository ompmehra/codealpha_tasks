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Nunito" charset="1" panose="00000000000000000000"/>
      <p:regular r:id="rId19"/>
    </p:embeddedFont>
    <p:embeddedFont>
      <p:font typeface="Nunit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10442" y="2546599"/>
            <a:ext cx="1244706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PHISHING AWARENESS TRAINING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143500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226862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Om Mehra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38467" y="3965824"/>
            <a:ext cx="10767614" cy="68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7"/>
              </a:lnSpc>
            </a:pPr>
            <a:r>
              <a:rPr lang="en-US" b="true" sz="4005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CODE ALPHA CYBER 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600440" y="2563996"/>
            <a:ext cx="1970654" cy="1551442"/>
          </a:xfrm>
          <a:custGeom>
            <a:avLst/>
            <a:gdLst/>
            <a:ahLst/>
            <a:cxnLst/>
            <a:rect r="r" b="b" t="t" l="l"/>
            <a:pathLst>
              <a:path h="1551442" w="1970654">
                <a:moveTo>
                  <a:pt x="0" y="0"/>
                </a:moveTo>
                <a:lnTo>
                  <a:pt x="1970653" y="0"/>
                </a:lnTo>
                <a:lnTo>
                  <a:pt x="1970653" y="1551441"/>
                </a:lnTo>
                <a:lnTo>
                  <a:pt x="0" y="1551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29038" y="4368777"/>
            <a:ext cx="1117346" cy="1264487"/>
          </a:xfrm>
          <a:custGeom>
            <a:avLst/>
            <a:gdLst/>
            <a:ahLst/>
            <a:cxnLst/>
            <a:rect r="r" b="b" t="t" l="l"/>
            <a:pathLst>
              <a:path h="1264487" w="1117346">
                <a:moveTo>
                  <a:pt x="0" y="0"/>
                </a:moveTo>
                <a:lnTo>
                  <a:pt x="1117346" y="0"/>
                </a:lnTo>
                <a:lnTo>
                  <a:pt x="1117346" y="1264487"/>
                </a:lnTo>
                <a:lnTo>
                  <a:pt x="0" y="1264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09856" y="6197098"/>
            <a:ext cx="1462243" cy="1273481"/>
          </a:xfrm>
          <a:custGeom>
            <a:avLst/>
            <a:gdLst/>
            <a:ahLst/>
            <a:cxnLst/>
            <a:rect r="r" b="b" t="t" l="l"/>
            <a:pathLst>
              <a:path h="1273481" w="1462243">
                <a:moveTo>
                  <a:pt x="0" y="0"/>
                </a:moveTo>
                <a:lnTo>
                  <a:pt x="1462243" y="0"/>
                </a:lnTo>
                <a:lnTo>
                  <a:pt x="1462243" y="1273481"/>
                </a:lnTo>
                <a:lnTo>
                  <a:pt x="0" y="1273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85116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PHISING?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57101" y="3525303"/>
            <a:ext cx="1011776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Phishing is a cyber attack used to steal sensitive information.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Attackers pretend to be trusted organizations or individuals.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Victims may be asked to provide passwords, OTPs, banking details, or personal information.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Phishing attacks are commonly delivered through emails, messages, or fake websites.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24114" y="3804920"/>
            <a:ext cx="840118" cy="84011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83808" y="3804920"/>
            <a:ext cx="840118" cy="84011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24114" y="5797563"/>
            <a:ext cx="840118" cy="8401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83808" y="5797563"/>
            <a:ext cx="840118" cy="84011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462268" y="3021549"/>
            <a:ext cx="1594064" cy="1629620"/>
          </a:xfrm>
          <a:custGeom>
            <a:avLst/>
            <a:gdLst/>
            <a:ahLst/>
            <a:cxnLst/>
            <a:rect r="r" b="b" t="t" l="l"/>
            <a:pathLst>
              <a:path h="1629620" w="1594064">
                <a:moveTo>
                  <a:pt x="0" y="0"/>
                </a:moveTo>
                <a:lnTo>
                  <a:pt x="1594064" y="0"/>
                </a:lnTo>
                <a:lnTo>
                  <a:pt x="1594064" y="1629620"/>
                </a:lnTo>
                <a:lnTo>
                  <a:pt x="0" y="162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8700" y="4976832"/>
            <a:ext cx="1001162" cy="1001162"/>
          </a:xfrm>
          <a:custGeom>
            <a:avLst/>
            <a:gdLst/>
            <a:ahLst/>
            <a:cxnLst/>
            <a:rect r="r" b="b" t="t" l="l"/>
            <a:pathLst>
              <a:path h="1001162" w="1001162">
                <a:moveTo>
                  <a:pt x="0" y="0"/>
                </a:moveTo>
                <a:lnTo>
                  <a:pt x="1001162" y="0"/>
                </a:lnTo>
                <a:lnTo>
                  <a:pt x="1001162" y="1001162"/>
                </a:lnTo>
                <a:lnTo>
                  <a:pt x="0" y="1001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34780" y="7352409"/>
            <a:ext cx="1549028" cy="1540579"/>
          </a:xfrm>
          <a:custGeom>
            <a:avLst/>
            <a:gdLst/>
            <a:ahLst/>
            <a:cxnLst/>
            <a:rect r="r" b="b" t="t" l="l"/>
            <a:pathLst>
              <a:path h="1540579" w="1549028">
                <a:moveTo>
                  <a:pt x="0" y="0"/>
                </a:moveTo>
                <a:lnTo>
                  <a:pt x="1549028" y="0"/>
                </a:lnTo>
                <a:lnTo>
                  <a:pt x="1549028" y="1540579"/>
                </a:lnTo>
                <a:lnTo>
                  <a:pt x="0" y="154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085116" y="1317769"/>
            <a:ext cx="10117768" cy="13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TYPES OF PHISHING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57344" y="3766820"/>
            <a:ext cx="4571315" cy="121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 Phishing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- Fake emails pretending to be trusted organizations.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14451" y="3798259"/>
            <a:ext cx="498689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Smishing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Phishing through SMS messages.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74249" y="39557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33943" y="39557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74249" y="5948382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33943" y="5948382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62251" y="5798056"/>
            <a:ext cx="4571315" cy="80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Vishing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Phishing through phone calls.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19226" y="5798056"/>
            <a:ext cx="635470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Spear Phishing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Targeted attacks against specific individuals.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17473" y="7783335"/>
            <a:ext cx="523374" cy="523374"/>
          </a:xfrm>
          <a:custGeom>
            <a:avLst/>
            <a:gdLst/>
            <a:ahLst/>
            <a:cxnLst/>
            <a:rect r="r" b="b" t="t" l="l"/>
            <a:pathLst>
              <a:path h="523374" w="523374">
                <a:moveTo>
                  <a:pt x="0" y="0"/>
                </a:moveTo>
                <a:lnTo>
                  <a:pt x="523375" y="0"/>
                </a:lnTo>
                <a:lnTo>
                  <a:pt x="523375" y="523375"/>
                </a:lnTo>
                <a:lnTo>
                  <a:pt x="0" y="52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81745" y="3990360"/>
            <a:ext cx="944170" cy="944170"/>
          </a:xfrm>
          <a:custGeom>
            <a:avLst/>
            <a:gdLst/>
            <a:ahLst/>
            <a:cxnLst/>
            <a:rect r="r" b="b" t="t" l="l"/>
            <a:pathLst>
              <a:path h="944170" w="944170">
                <a:moveTo>
                  <a:pt x="0" y="0"/>
                </a:moveTo>
                <a:lnTo>
                  <a:pt x="944170" y="0"/>
                </a:lnTo>
                <a:lnTo>
                  <a:pt x="944170" y="944170"/>
                </a:lnTo>
                <a:lnTo>
                  <a:pt x="0" y="944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16783" y="1336819"/>
            <a:ext cx="12777387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EXAMPLES OF PHISHING MAIL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55222" y="3003889"/>
            <a:ext cx="7363915" cy="80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 Phishing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- Fake emails pretending to be trusted organizations.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22663" y="4109370"/>
            <a:ext cx="7363915" cy="408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Content:-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Subject: Urgent! Verify Your Bank Account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Dear Customer,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Your account has been suspended.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Click the link below immediately to verify                                                                   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your details.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www.bank-verification-security.com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86538" y="6806984"/>
            <a:ext cx="825348" cy="787832"/>
          </a:xfrm>
          <a:custGeom>
            <a:avLst/>
            <a:gdLst/>
            <a:ahLst/>
            <a:cxnLst/>
            <a:rect r="r" b="b" t="t" l="l"/>
            <a:pathLst>
              <a:path h="787832" w="825348">
                <a:moveTo>
                  <a:pt x="0" y="0"/>
                </a:moveTo>
                <a:lnTo>
                  <a:pt x="825348" y="0"/>
                </a:lnTo>
                <a:lnTo>
                  <a:pt x="825348" y="787832"/>
                </a:lnTo>
                <a:lnTo>
                  <a:pt x="0" y="78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55222" y="3952260"/>
            <a:ext cx="7363915" cy="44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Content:-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Real Website: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www.amazon.in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Fake Website: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www.amaz0n-security.com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Differences: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• Misspelled domain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• Unusual URL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• Fake login page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193248" y="4734533"/>
            <a:ext cx="3661032" cy="579109"/>
          </a:xfrm>
          <a:custGeom>
            <a:avLst/>
            <a:gdLst/>
            <a:ahLst/>
            <a:cxnLst/>
            <a:rect r="r" b="b" t="t" l="l"/>
            <a:pathLst>
              <a:path h="579109" w="3661032">
                <a:moveTo>
                  <a:pt x="0" y="0"/>
                </a:moveTo>
                <a:lnTo>
                  <a:pt x="3661031" y="0"/>
                </a:lnTo>
                <a:lnTo>
                  <a:pt x="3661031" y="579109"/>
                </a:lnTo>
                <a:lnTo>
                  <a:pt x="0" y="579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193248" y="5948376"/>
            <a:ext cx="4532978" cy="717035"/>
          </a:xfrm>
          <a:custGeom>
            <a:avLst/>
            <a:gdLst/>
            <a:ahLst/>
            <a:cxnLst/>
            <a:rect r="r" b="b" t="t" l="l"/>
            <a:pathLst>
              <a:path h="717035" w="4532978">
                <a:moveTo>
                  <a:pt x="0" y="0"/>
                </a:moveTo>
                <a:lnTo>
                  <a:pt x="4532978" y="0"/>
                </a:lnTo>
                <a:lnTo>
                  <a:pt x="4532978" y="717034"/>
                </a:lnTo>
                <a:lnTo>
                  <a:pt x="0" y="7170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16783" y="1336819"/>
            <a:ext cx="12777387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FAKE WEBSITE DETECTION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314453" y="4079918"/>
            <a:ext cx="944170" cy="944170"/>
          </a:xfrm>
          <a:custGeom>
            <a:avLst/>
            <a:gdLst/>
            <a:ahLst/>
            <a:cxnLst/>
            <a:rect r="r" b="b" t="t" l="l"/>
            <a:pathLst>
              <a:path h="944170" w="944170">
                <a:moveTo>
                  <a:pt x="0" y="0"/>
                </a:moveTo>
                <a:lnTo>
                  <a:pt x="944170" y="0"/>
                </a:lnTo>
                <a:lnTo>
                  <a:pt x="944170" y="944170"/>
                </a:lnTo>
                <a:lnTo>
                  <a:pt x="0" y="9441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70150" y="4062981"/>
            <a:ext cx="2415342" cy="2437501"/>
          </a:xfrm>
          <a:custGeom>
            <a:avLst/>
            <a:gdLst/>
            <a:ahLst/>
            <a:cxnLst/>
            <a:rect r="r" b="b" t="t" l="l"/>
            <a:pathLst>
              <a:path h="2437501" w="2415342">
                <a:moveTo>
                  <a:pt x="0" y="0"/>
                </a:moveTo>
                <a:lnTo>
                  <a:pt x="2415342" y="0"/>
                </a:lnTo>
                <a:lnTo>
                  <a:pt x="2415342" y="2437500"/>
                </a:lnTo>
                <a:lnTo>
                  <a:pt x="0" y="243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35195" y="4383707"/>
            <a:ext cx="1470020" cy="1122560"/>
          </a:xfrm>
          <a:custGeom>
            <a:avLst/>
            <a:gdLst/>
            <a:ahLst/>
            <a:cxnLst/>
            <a:rect r="r" b="b" t="t" l="l"/>
            <a:pathLst>
              <a:path h="1122560" w="1470020">
                <a:moveTo>
                  <a:pt x="0" y="0"/>
                </a:moveTo>
                <a:lnTo>
                  <a:pt x="1470020" y="0"/>
                </a:lnTo>
                <a:lnTo>
                  <a:pt x="1470020" y="1122560"/>
                </a:lnTo>
                <a:lnTo>
                  <a:pt x="0" y="1122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5035" y="5563259"/>
            <a:ext cx="1914396" cy="1796051"/>
          </a:xfrm>
          <a:custGeom>
            <a:avLst/>
            <a:gdLst/>
            <a:ahLst/>
            <a:cxnLst/>
            <a:rect r="r" b="b" t="t" l="l"/>
            <a:pathLst>
              <a:path h="1796051" w="1914396">
                <a:moveTo>
                  <a:pt x="0" y="0"/>
                </a:moveTo>
                <a:lnTo>
                  <a:pt x="1914396" y="0"/>
                </a:lnTo>
                <a:lnTo>
                  <a:pt x="1914396" y="1796051"/>
                </a:lnTo>
                <a:lnTo>
                  <a:pt x="0" y="17960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10179" y="1424129"/>
            <a:ext cx="966764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SOCIAL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58890" y="3705295"/>
            <a:ext cx="7363915" cy="367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Content:-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Social engineering is the manipulation of  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people into revealing confidential information.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Examples: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• Fake IT support calls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• Fake job offers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• Impersonating bank officials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• Urgent account verification requests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076405" y="3561173"/>
            <a:ext cx="1178120" cy="1510410"/>
          </a:xfrm>
          <a:custGeom>
            <a:avLst/>
            <a:gdLst/>
            <a:ahLst/>
            <a:cxnLst/>
            <a:rect r="r" b="b" t="t" l="l"/>
            <a:pathLst>
              <a:path h="1510410" w="1178120">
                <a:moveTo>
                  <a:pt x="0" y="0"/>
                </a:moveTo>
                <a:lnTo>
                  <a:pt x="1178120" y="0"/>
                </a:lnTo>
                <a:lnTo>
                  <a:pt x="1178120" y="1510410"/>
                </a:lnTo>
                <a:lnTo>
                  <a:pt x="0" y="151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550" y="4736456"/>
            <a:ext cx="2109700" cy="1898730"/>
          </a:xfrm>
          <a:custGeom>
            <a:avLst/>
            <a:gdLst/>
            <a:ahLst/>
            <a:cxnLst/>
            <a:rect r="r" b="b" t="t" l="l"/>
            <a:pathLst>
              <a:path h="1898730" w="2109700">
                <a:moveTo>
                  <a:pt x="0" y="0"/>
                </a:moveTo>
                <a:lnTo>
                  <a:pt x="2109700" y="0"/>
                </a:lnTo>
                <a:lnTo>
                  <a:pt x="2109700" y="1898731"/>
                </a:lnTo>
                <a:lnTo>
                  <a:pt x="0" y="1898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76405" y="6468518"/>
            <a:ext cx="1491292" cy="2025211"/>
          </a:xfrm>
          <a:custGeom>
            <a:avLst/>
            <a:gdLst/>
            <a:ahLst/>
            <a:cxnLst/>
            <a:rect r="r" b="b" t="t" l="l"/>
            <a:pathLst>
              <a:path h="2025211" w="1491292">
                <a:moveTo>
                  <a:pt x="0" y="0"/>
                </a:moveTo>
                <a:lnTo>
                  <a:pt x="1491292" y="0"/>
                </a:lnTo>
                <a:lnTo>
                  <a:pt x="1491292" y="2025211"/>
                </a:lnTo>
                <a:lnTo>
                  <a:pt x="0" y="202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24692" y="1424129"/>
            <a:ext cx="98386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REAL WORLD EXAMPLE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5800" y="3523073"/>
            <a:ext cx="7363915" cy="367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Content:-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Google Docs Phishing Attack (2017)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• Millions of users received fake Google Docs 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invitations.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• The email appeared legitimate.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• Clicking the link granted attackers account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access.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• Many users were affected worldwide.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338297" y="6905003"/>
            <a:ext cx="1356382" cy="1302127"/>
          </a:xfrm>
          <a:custGeom>
            <a:avLst/>
            <a:gdLst/>
            <a:ahLst/>
            <a:cxnLst/>
            <a:rect r="r" b="b" t="t" l="l"/>
            <a:pathLst>
              <a:path h="1302127" w="1356382">
                <a:moveTo>
                  <a:pt x="0" y="0"/>
                </a:moveTo>
                <a:lnTo>
                  <a:pt x="1356382" y="0"/>
                </a:lnTo>
                <a:lnTo>
                  <a:pt x="1356382" y="1302127"/>
                </a:lnTo>
                <a:lnTo>
                  <a:pt x="0" y="130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20463" y="6889373"/>
            <a:ext cx="1673825" cy="1317757"/>
          </a:xfrm>
          <a:custGeom>
            <a:avLst/>
            <a:gdLst/>
            <a:ahLst/>
            <a:cxnLst/>
            <a:rect r="r" b="b" t="t" l="l"/>
            <a:pathLst>
              <a:path h="1317757" w="1673825">
                <a:moveTo>
                  <a:pt x="0" y="0"/>
                </a:moveTo>
                <a:lnTo>
                  <a:pt x="1673825" y="0"/>
                </a:lnTo>
                <a:lnTo>
                  <a:pt x="1673825" y="1317757"/>
                </a:lnTo>
                <a:lnTo>
                  <a:pt x="0" y="13177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48268" y="3744699"/>
            <a:ext cx="1424317" cy="1887649"/>
          </a:xfrm>
          <a:custGeom>
            <a:avLst/>
            <a:gdLst/>
            <a:ahLst/>
            <a:cxnLst/>
            <a:rect r="r" b="b" t="t" l="l"/>
            <a:pathLst>
              <a:path h="1887649" w="1424317">
                <a:moveTo>
                  <a:pt x="0" y="0"/>
                </a:moveTo>
                <a:lnTo>
                  <a:pt x="1424317" y="0"/>
                </a:lnTo>
                <a:lnTo>
                  <a:pt x="1424317" y="1887649"/>
                </a:lnTo>
                <a:lnTo>
                  <a:pt x="0" y="1887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39732" y="1230586"/>
            <a:ext cx="1040853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TO IDENTIFY PHISHING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48163" y="3811055"/>
            <a:ext cx="7229074" cy="261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99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Check sender email address carefully.</a:t>
            </a:r>
          </a:p>
          <a:p>
            <a:pPr algn="l">
              <a:lnSpc>
                <a:spcPts val="4187"/>
              </a:lnSpc>
            </a:pPr>
            <a:r>
              <a:rPr lang="en-US" sz="299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Verify website URLs.</a:t>
            </a:r>
          </a:p>
          <a:p>
            <a:pPr algn="l">
              <a:lnSpc>
                <a:spcPts val="4187"/>
              </a:lnSpc>
            </a:pPr>
            <a:r>
              <a:rPr lang="en-US" sz="299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Look for spelling and grammar mistakes.</a:t>
            </a:r>
          </a:p>
          <a:p>
            <a:pPr algn="l">
              <a:lnSpc>
                <a:spcPts val="4187"/>
              </a:lnSpc>
            </a:pPr>
            <a:r>
              <a:rPr lang="en-US" sz="299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Avoid suspicious attachments.</a:t>
            </a:r>
          </a:p>
          <a:p>
            <a:pPr algn="l">
              <a:lnSpc>
                <a:spcPts val="4187"/>
              </a:lnSpc>
            </a:pPr>
            <a:r>
              <a:rPr lang="en-US" sz="299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Never share passwords or OTPs.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47048" y="3082239"/>
            <a:ext cx="10189752" cy="2757450"/>
            <a:chOff x="0" y="0"/>
            <a:chExt cx="2683721" cy="726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1199" y="3066253"/>
            <a:ext cx="2550037" cy="2757450"/>
            <a:chOff x="0" y="0"/>
            <a:chExt cx="671615" cy="726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47048" y="6208101"/>
            <a:ext cx="10189752" cy="2757450"/>
            <a:chOff x="0" y="0"/>
            <a:chExt cx="2683721" cy="7262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51199" y="6192114"/>
            <a:ext cx="2550037" cy="2757450"/>
            <a:chOff x="0" y="0"/>
            <a:chExt cx="671615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236241" y="6708998"/>
            <a:ext cx="1379953" cy="1694138"/>
          </a:xfrm>
          <a:custGeom>
            <a:avLst/>
            <a:gdLst/>
            <a:ahLst/>
            <a:cxnLst/>
            <a:rect r="r" b="b" t="t" l="l"/>
            <a:pathLst>
              <a:path h="1694138" w="1379953">
                <a:moveTo>
                  <a:pt x="0" y="0"/>
                </a:moveTo>
                <a:lnTo>
                  <a:pt x="1379953" y="0"/>
                </a:lnTo>
                <a:lnTo>
                  <a:pt x="1379953" y="1694138"/>
                </a:lnTo>
                <a:lnTo>
                  <a:pt x="0" y="169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164680" y="3495500"/>
            <a:ext cx="1424317" cy="1887649"/>
          </a:xfrm>
          <a:custGeom>
            <a:avLst/>
            <a:gdLst/>
            <a:ahLst/>
            <a:cxnLst/>
            <a:rect r="r" b="b" t="t" l="l"/>
            <a:pathLst>
              <a:path h="1887649" w="1424317">
                <a:moveTo>
                  <a:pt x="0" y="0"/>
                </a:moveTo>
                <a:lnTo>
                  <a:pt x="1424317" y="0"/>
                </a:lnTo>
                <a:lnTo>
                  <a:pt x="1424317" y="1887649"/>
                </a:lnTo>
                <a:lnTo>
                  <a:pt x="0" y="1887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51199" y="1278079"/>
            <a:ext cx="129856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BEST PRACTICES FOR PROTECTION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35867" y="3928088"/>
            <a:ext cx="921211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Use strong passwords.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Enable Two-Factor Authentication (2FA).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67347" y="6784455"/>
            <a:ext cx="921211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Keep software updated.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Verify requests before responding.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Report suspicious emails.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7365" y="3365838"/>
            <a:ext cx="8668166" cy="2419345"/>
            <a:chOff x="0" y="0"/>
            <a:chExt cx="2282974" cy="6371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2974" cy="637194"/>
            </a:xfrm>
            <a:custGeom>
              <a:avLst/>
              <a:gdLst/>
              <a:ahLst/>
              <a:cxnLst/>
              <a:rect r="r" b="b" t="t" l="l"/>
              <a:pathLst>
                <a:path h="637194" w="2282974">
                  <a:moveTo>
                    <a:pt x="45550" y="0"/>
                  </a:moveTo>
                  <a:lnTo>
                    <a:pt x="2237424" y="0"/>
                  </a:lnTo>
                  <a:cubicBezTo>
                    <a:pt x="2249504" y="0"/>
                    <a:pt x="2261090" y="4799"/>
                    <a:pt x="2269632" y="13341"/>
                  </a:cubicBezTo>
                  <a:cubicBezTo>
                    <a:pt x="2278175" y="21884"/>
                    <a:pt x="2282974" y="33470"/>
                    <a:pt x="2282974" y="45550"/>
                  </a:cubicBezTo>
                  <a:lnTo>
                    <a:pt x="2282974" y="591643"/>
                  </a:lnTo>
                  <a:cubicBezTo>
                    <a:pt x="2282974" y="603724"/>
                    <a:pt x="2278175" y="615310"/>
                    <a:pt x="2269632" y="623852"/>
                  </a:cubicBezTo>
                  <a:cubicBezTo>
                    <a:pt x="2261090" y="632395"/>
                    <a:pt x="2249504" y="637194"/>
                    <a:pt x="2237424" y="637194"/>
                  </a:cubicBezTo>
                  <a:lnTo>
                    <a:pt x="45550" y="637194"/>
                  </a:lnTo>
                  <a:cubicBezTo>
                    <a:pt x="20394" y="637194"/>
                    <a:pt x="0" y="616800"/>
                    <a:pt x="0" y="591643"/>
                  </a:cubicBezTo>
                  <a:lnTo>
                    <a:pt x="0" y="45550"/>
                  </a:lnTo>
                  <a:cubicBezTo>
                    <a:pt x="0" y="33470"/>
                    <a:pt x="4799" y="21884"/>
                    <a:pt x="13341" y="13341"/>
                  </a:cubicBezTo>
                  <a:cubicBezTo>
                    <a:pt x="21884" y="4799"/>
                    <a:pt x="33470" y="0"/>
                    <a:pt x="4555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2974" cy="675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22933" y="6453318"/>
            <a:ext cx="8668166" cy="2419345"/>
            <a:chOff x="0" y="0"/>
            <a:chExt cx="2282974" cy="6371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2974" cy="637194"/>
            </a:xfrm>
            <a:custGeom>
              <a:avLst/>
              <a:gdLst/>
              <a:ahLst/>
              <a:cxnLst/>
              <a:rect r="r" b="b" t="t" l="l"/>
              <a:pathLst>
                <a:path h="637194" w="2282974">
                  <a:moveTo>
                    <a:pt x="45550" y="0"/>
                  </a:moveTo>
                  <a:lnTo>
                    <a:pt x="2237424" y="0"/>
                  </a:lnTo>
                  <a:cubicBezTo>
                    <a:pt x="2249504" y="0"/>
                    <a:pt x="2261090" y="4799"/>
                    <a:pt x="2269632" y="13341"/>
                  </a:cubicBezTo>
                  <a:cubicBezTo>
                    <a:pt x="2278175" y="21884"/>
                    <a:pt x="2282974" y="33470"/>
                    <a:pt x="2282974" y="45550"/>
                  </a:cubicBezTo>
                  <a:lnTo>
                    <a:pt x="2282974" y="591643"/>
                  </a:lnTo>
                  <a:cubicBezTo>
                    <a:pt x="2282974" y="603724"/>
                    <a:pt x="2278175" y="615310"/>
                    <a:pt x="2269632" y="623852"/>
                  </a:cubicBezTo>
                  <a:cubicBezTo>
                    <a:pt x="2261090" y="632395"/>
                    <a:pt x="2249504" y="637194"/>
                    <a:pt x="2237424" y="637194"/>
                  </a:cubicBezTo>
                  <a:lnTo>
                    <a:pt x="45550" y="637194"/>
                  </a:lnTo>
                  <a:cubicBezTo>
                    <a:pt x="20394" y="637194"/>
                    <a:pt x="0" y="616800"/>
                    <a:pt x="0" y="591643"/>
                  </a:cubicBezTo>
                  <a:lnTo>
                    <a:pt x="0" y="45550"/>
                  </a:lnTo>
                  <a:cubicBezTo>
                    <a:pt x="0" y="33470"/>
                    <a:pt x="4799" y="21884"/>
                    <a:pt x="13341" y="13341"/>
                  </a:cubicBezTo>
                  <a:cubicBezTo>
                    <a:pt x="21884" y="4799"/>
                    <a:pt x="33470" y="0"/>
                    <a:pt x="4555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2974" cy="675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36185" y="3502434"/>
            <a:ext cx="2041663" cy="2207726"/>
            <a:chOff x="0" y="0"/>
            <a:chExt cx="671615" cy="7262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93390" y="0"/>
                  </a:moveTo>
                  <a:lnTo>
                    <a:pt x="478224" y="0"/>
                  </a:lnTo>
                  <a:cubicBezTo>
                    <a:pt x="529515" y="0"/>
                    <a:pt x="578704" y="20375"/>
                    <a:pt x="614972" y="56643"/>
                  </a:cubicBezTo>
                  <a:cubicBezTo>
                    <a:pt x="651240" y="92910"/>
                    <a:pt x="671615" y="142100"/>
                    <a:pt x="671615" y="193390"/>
                  </a:cubicBezTo>
                  <a:lnTo>
                    <a:pt x="671615" y="532852"/>
                  </a:lnTo>
                  <a:cubicBezTo>
                    <a:pt x="671615" y="639658"/>
                    <a:pt x="585031" y="726242"/>
                    <a:pt x="478224" y="726242"/>
                  </a:cubicBezTo>
                  <a:lnTo>
                    <a:pt x="193390" y="726242"/>
                  </a:lnTo>
                  <a:cubicBezTo>
                    <a:pt x="86584" y="726242"/>
                    <a:pt x="0" y="639658"/>
                    <a:pt x="0" y="532852"/>
                  </a:cubicBezTo>
                  <a:lnTo>
                    <a:pt x="0" y="193390"/>
                  </a:lnTo>
                  <a:cubicBezTo>
                    <a:pt x="0" y="86584"/>
                    <a:pt x="86584" y="0"/>
                    <a:pt x="19339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114396" y="3877710"/>
            <a:ext cx="752432" cy="1457174"/>
          </a:xfrm>
          <a:custGeom>
            <a:avLst/>
            <a:gdLst/>
            <a:ahLst/>
            <a:cxnLst/>
            <a:rect r="r" b="b" t="t" l="l"/>
            <a:pathLst>
              <a:path h="1457174" w="752432">
                <a:moveTo>
                  <a:pt x="0" y="0"/>
                </a:moveTo>
                <a:lnTo>
                  <a:pt x="752432" y="0"/>
                </a:lnTo>
                <a:lnTo>
                  <a:pt x="752432" y="1457174"/>
                </a:lnTo>
                <a:lnTo>
                  <a:pt x="0" y="1457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570617" y="6559127"/>
            <a:ext cx="2041663" cy="2207726"/>
            <a:chOff x="0" y="0"/>
            <a:chExt cx="671615" cy="7262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93390" y="0"/>
                  </a:moveTo>
                  <a:lnTo>
                    <a:pt x="478224" y="0"/>
                  </a:lnTo>
                  <a:cubicBezTo>
                    <a:pt x="529515" y="0"/>
                    <a:pt x="578704" y="20375"/>
                    <a:pt x="614972" y="56643"/>
                  </a:cubicBezTo>
                  <a:cubicBezTo>
                    <a:pt x="651240" y="92910"/>
                    <a:pt x="671615" y="142100"/>
                    <a:pt x="671615" y="193390"/>
                  </a:cubicBezTo>
                  <a:lnTo>
                    <a:pt x="671615" y="532852"/>
                  </a:lnTo>
                  <a:cubicBezTo>
                    <a:pt x="671615" y="639658"/>
                    <a:pt x="585031" y="726242"/>
                    <a:pt x="478224" y="726242"/>
                  </a:cubicBezTo>
                  <a:lnTo>
                    <a:pt x="193390" y="726242"/>
                  </a:lnTo>
                  <a:cubicBezTo>
                    <a:pt x="86584" y="726242"/>
                    <a:pt x="0" y="639658"/>
                    <a:pt x="0" y="532852"/>
                  </a:cubicBezTo>
                  <a:lnTo>
                    <a:pt x="0" y="193390"/>
                  </a:lnTo>
                  <a:cubicBezTo>
                    <a:pt x="0" y="86584"/>
                    <a:pt x="86584" y="0"/>
                    <a:pt x="19339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148828" y="6934403"/>
            <a:ext cx="752432" cy="1457174"/>
          </a:xfrm>
          <a:custGeom>
            <a:avLst/>
            <a:gdLst/>
            <a:ahLst/>
            <a:cxnLst/>
            <a:rect r="r" b="b" t="t" l="l"/>
            <a:pathLst>
              <a:path h="1457174" w="752432">
                <a:moveTo>
                  <a:pt x="0" y="0"/>
                </a:moveTo>
                <a:lnTo>
                  <a:pt x="752431" y="0"/>
                </a:lnTo>
                <a:lnTo>
                  <a:pt x="752431" y="1457175"/>
                </a:lnTo>
                <a:lnTo>
                  <a:pt x="0" y="145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590716" y="3717304"/>
            <a:ext cx="1990101" cy="2437763"/>
          </a:xfrm>
          <a:custGeom>
            <a:avLst/>
            <a:gdLst/>
            <a:ahLst/>
            <a:cxnLst/>
            <a:rect r="r" b="b" t="t" l="l"/>
            <a:pathLst>
              <a:path h="2437763" w="1990101">
                <a:moveTo>
                  <a:pt x="0" y="0"/>
                </a:moveTo>
                <a:lnTo>
                  <a:pt x="1990101" y="0"/>
                </a:lnTo>
                <a:lnTo>
                  <a:pt x="1990101" y="2437763"/>
                </a:lnTo>
                <a:lnTo>
                  <a:pt x="0" y="2437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651199" y="1278079"/>
            <a:ext cx="1298560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QUICK QUIZ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3159" y="3454809"/>
            <a:ext cx="6815855" cy="219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Which of the following is a common sign of phishing?</a:t>
            </a:r>
          </a:p>
          <a:p>
            <a:pPr algn="just">
              <a:lnSpc>
                <a:spcPts val="2900"/>
              </a:lnSpc>
            </a:pP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A. Secure HTTPS Website</a:t>
            </a: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B. Urgent Request for Password</a:t>
            </a: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C. Verified Official Domain</a:t>
            </a: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D. Trusted 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56220" y="6725520"/>
            <a:ext cx="6815855" cy="182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Should you share an OTP received on your phone with anyone?</a:t>
            </a:r>
          </a:p>
          <a:p>
            <a:pPr algn="just">
              <a:lnSpc>
                <a:spcPts val="2900"/>
              </a:lnSpc>
            </a:pP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A. Yes</a:t>
            </a:r>
          </a:p>
          <a:p>
            <a:pPr algn="just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B. No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05195" y="3635902"/>
            <a:ext cx="12350877" cy="4803941"/>
            <a:chOff x="0" y="0"/>
            <a:chExt cx="3252906" cy="1265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52906" cy="1265236"/>
            </a:xfrm>
            <a:custGeom>
              <a:avLst/>
              <a:gdLst/>
              <a:ahLst/>
              <a:cxnLst/>
              <a:rect r="r" b="b" t="t" l="l"/>
              <a:pathLst>
                <a:path h="1265236" w="3252906">
                  <a:moveTo>
                    <a:pt x="20059" y="0"/>
                  </a:moveTo>
                  <a:lnTo>
                    <a:pt x="3232847" y="0"/>
                  </a:lnTo>
                  <a:cubicBezTo>
                    <a:pt x="3243925" y="0"/>
                    <a:pt x="3252906" y="8981"/>
                    <a:pt x="3252906" y="20059"/>
                  </a:cubicBezTo>
                  <a:lnTo>
                    <a:pt x="3252906" y="1245177"/>
                  </a:lnTo>
                  <a:cubicBezTo>
                    <a:pt x="3252906" y="1256255"/>
                    <a:pt x="3243925" y="1265236"/>
                    <a:pt x="3232847" y="1265236"/>
                  </a:cubicBezTo>
                  <a:lnTo>
                    <a:pt x="20059" y="1265236"/>
                  </a:lnTo>
                  <a:cubicBezTo>
                    <a:pt x="14739" y="1265236"/>
                    <a:pt x="9637" y="1263122"/>
                    <a:pt x="5875" y="1259361"/>
                  </a:cubicBezTo>
                  <a:cubicBezTo>
                    <a:pt x="2113" y="1255599"/>
                    <a:pt x="0" y="1250497"/>
                    <a:pt x="0" y="1245177"/>
                  </a:cubicBezTo>
                  <a:lnTo>
                    <a:pt x="0" y="20059"/>
                  </a:lnTo>
                  <a:cubicBezTo>
                    <a:pt x="0" y="8981"/>
                    <a:pt x="8981" y="0"/>
                    <a:pt x="2005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52906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2605" y="3660637"/>
            <a:ext cx="1050583" cy="10505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85128" y="3591960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886039" y="4330279"/>
            <a:ext cx="2611972" cy="2919888"/>
          </a:xfrm>
          <a:custGeom>
            <a:avLst/>
            <a:gdLst/>
            <a:ahLst/>
            <a:cxnLst/>
            <a:rect r="r" b="b" t="t" l="l"/>
            <a:pathLst>
              <a:path h="2919888" w="2611972">
                <a:moveTo>
                  <a:pt x="0" y="0"/>
                </a:moveTo>
                <a:lnTo>
                  <a:pt x="2611973" y="0"/>
                </a:lnTo>
                <a:lnTo>
                  <a:pt x="2611973" y="2919888"/>
                </a:lnTo>
                <a:lnTo>
                  <a:pt x="0" y="2919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44462" y="5063476"/>
            <a:ext cx="1558428" cy="1168821"/>
          </a:xfrm>
          <a:custGeom>
            <a:avLst/>
            <a:gdLst/>
            <a:ahLst/>
            <a:cxnLst/>
            <a:rect r="r" b="b" t="t" l="l"/>
            <a:pathLst>
              <a:path h="1168821" w="1558428">
                <a:moveTo>
                  <a:pt x="0" y="0"/>
                </a:moveTo>
                <a:lnTo>
                  <a:pt x="1558427" y="0"/>
                </a:lnTo>
                <a:lnTo>
                  <a:pt x="1558427" y="1168821"/>
                </a:lnTo>
                <a:lnTo>
                  <a:pt x="0" y="1168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743538" y="1230454"/>
            <a:ext cx="880092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85116" y="4035083"/>
            <a:ext cx="8800923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Phishing attacks are becoming more common.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Awareness is the first line of defense.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Always verify emails, links, and requests.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Follow cybersecurity best practices.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628323" y="4001442"/>
            <a:ext cx="2326414" cy="2284116"/>
          </a:xfrm>
          <a:custGeom>
            <a:avLst/>
            <a:gdLst/>
            <a:ahLst/>
            <a:cxnLst/>
            <a:rect r="r" b="b" t="t" l="l"/>
            <a:pathLst>
              <a:path h="2284116" w="2326414">
                <a:moveTo>
                  <a:pt x="0" y="0"/>
                </a:moveTo>
                <a:lnTo>
                  <a:pt x="2326414" y="0"/>
                </a:lnTo>
                <a:lnTo>
                  <a:pt x="2326414" y="2284116"/>
                </a:lnTo>
                <a:lnTo>
                  <a:pt x="0" y="228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4559" y="6017375"/>
            <a:ext cx="6578882" cy="1023974"/>
            <a:chOff x="0" y="0"/>
            <a:chExt cx="1732710" cy="2696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245186" y="6100737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Om Mehra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DAHNABjsIE8</dc:identifier>
  <dcterms:modified xsi:type="dcterms:W3CDTF">2011-08-01T06:04:30Z</dcterms:modified>
  <cp:revision>1</cp:revision>
  <dc:title>Phishing awareness Training</dc:title>
</cp:coreProperties>
</file>