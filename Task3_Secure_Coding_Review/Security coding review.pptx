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ileron Bold" charset="1" panose="00000800000000000000"/>
      <p:regular r:id="rId15"/>
    </p:embeddedFont>
    <p:embeddedFont>
      <p:font typeface="Koho" charset="1" panose="00000500000000000000"/>
      <p:regular r:id="rId16"/>
    </p:embeddedFont>
    <p:embeddedFont>
      <p:font typeface="Koho Bold" charset="1" panose="000008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6.png" Type="http://schemas.openxmlformats.org/officeDocument/2006/relationships/image"/><Relationship Id="rId15" Target="../media/image17.png" Type="http://schemas.openxmlformats.org/officeDocument/2006/relationships/image"/><Relationship Id="rId16" Target="../media/image18.svg" Type="http://schemas.openxmlformats.org/officeDocument/2006/relationships/image"/><Relationship Id="rId17" Target="../media/image19.png" Type="http://schemas.openxmlformats.org/officeDocument/2006/relationships/image"/><Relationship Id="rId18" Target="../media/image20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6.png" Type="http://schemas.openxmlformats.org/officeDocument/2006/relationships/image"/><Relationship Id="rId15" Target="../media/image17.png" Type="http://schemas.openxmlformats.org/officeDocument/2006/relationships/image"/><Relationship Id="rId16" Target="../media/image18.svg" Type="http://schemas.openxmlformats.org/officeDocument/2006/relationships/image"/><Relationship Id="rId17" Target="../media/image21.png" Type="http://schemas.openxmlformats.org/officeDocument/2006/relationships/image"/><Relationship Id="rId18" Target="../media/image2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23.png" Type="http://schemas.openxmlformats.org/officeDocument/2006/relationships/image"/><Relationship Id="rId15" Target="../media/image24.svg" Type="http://schemas.openxmlformats.org/officeDocument/2006/relationships/image"/><Relationship Id="rId16" Target="../media/image25.png" Type="http://schemas.openxmlformats.org/officeDocument/2006/relationships/image"/><Relationship Id="rId17" Target="../media/image26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27.png" Type="http://schemas.openxmlformats.org/officeDocument/2006/relationships/image"/><Relationship Id="rId15" Target="../media/image28.svg" Type="http://schemas.openxmlformats.org/officeDocument/2006/relationships/image"/><Relationship Id="rId16" Target="../media/image29.png" Type="http://schemas.openxmlformats.org/officeDocument/2006/relationships/image"/><Relationship Id="rId17" Target="../media/image30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31.png" Type="http://schemas.openxmlformats.org/officeDocument/2006/relationships/image"/><Relationship Id="rId15" Target="../media/image32.png" Type="http://schemas.openxmlformats.org/officeDocument/2006/relationships/image"/><Relationship Id="rId16" Target="../media/image33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29.png" Type="http://schemas.openxmlformats.org/officeDocument/2006/relationships/image"/><Relationship Id="rId15" Target="../media/image30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634754" y="3673360"/>
            <a:ext cx="13018493" cy="1236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0"/>
              </a:lnSpc>
            </a:pPr>
            <a:r>
              <a:rPr lang="en-US" b="true" sz="72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SECURITY CODING REVIEW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882925" y="5877474"/>
            <a:ext cx="8522150" cy="828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22"/>
              </a:lnSpc>
            </a:pPr>
            <a:r>
              <a:rPr lang="en-US" sz="4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By Om Mehra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056965" y="4908581"/>
            <a:ext cx="9908951" cy="828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22"/>
              </a:lnSpc>
            </a:pPr>
            <a:r>
              <a:rPr lang="en-US" sz="4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Code Alpha Cyber Security Intern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78570" y="3838696"/>
            <a:ext cx="6309392" cy="2154900"/>
          </a:xfrm>
          <a:custGeom>
            <a:avLst/>
            <a:gdLst/>
            <a:ahLst/>
            <a:cxnLst/>
            <a:rect r="r" b="b" t="t" l="l"/>
            <a:pathLst>
              <a:path h="2154900" w="6309392">
                <a:moveTo>
                  <a:pt x="0" y="0"/>
                </a:moveTo>
                <a:lnTo>
                  <a:pt x="6309392" y="0"/>
                </a:lnTo>
                <a:lnTo>
                  <a:pt x="6309392" y="2154901"/>
                </a:lnTo>
                <a:lnTo>
                  <a:pt x="0" y="215490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4552491" y="4582000"/>
            <a:ext cx="1232835" cy="1123000"/>
          </a:xfrm>
          <a:custGeom>
            <a:avLst/>
            <a:gdLst/>
            <a:ahLst/>
            <a:cxnLst/>
            <a:rect r="r" b="b" t="t" l="l"/>
            <a:pathLst>
              <a:path h="1123000" w="1232835">
                <a:moveTo>
                  <a:pt x="0" y="0"/>
                </a:moveTo>
                <a:lnTo>
                  <a:pt x="1232834" y="0"/>
                </a:lnTo>
                <a:lnTo>
                  <a:pt x="1232834" y="1123000"/>
                </a:lnTo>
                <a:lnTo>
                  <a:pt x="0" y="11230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826648" y="2223595"/>
            <a:ext cx="12634705" cy="140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10"/>
              </a:lnSpc>
            </a:pPr>
            <a:r>
              <a:rPr lang="en-US" b="true" sz="815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APPLICATION REVIEWED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533266" y="4216948"/>
            <a:ext cx="11221469" cy="40132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22"/>
              </a:lnSpc>
            </a:pPr>
            <a:r>
              <a:rPr lang="en-US" sz="2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Application Name:</a:t>
            </a:r>
          </a:p>
          <a:p>
            <a:pPr algn="ctr">
              <a:lnSpc>
                <a:spcPts val="4022"/>
              </a:lnSpc>
            </a:pPr>
            <a:r>
              <a:rPr lang="en-US" sz="2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Python Login System</a:t>
            </a:r>
          </a:p>
          <a:p>
            <a:pPr algn="ctr">
              <a:lnSpc>
                <a:spcPts val="4022"/>
              </a:lnSpc>
            </a:pPr>
          </a:p>
          <a:p>
            <a:pPr algn="ctr">
              <a:lnSpc>
                <a:spcPts val="4022"/>
              </a:lnSpc>
            </a:pPr>
            <a:r>
              <a:rPr lang="en-US" sz="2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Programming Language:</a:t>
            </a:r>
          </a:p>
          <a:p>
            <a:pPr algn="ctr">
              <a:lnSpc>
                <a:spcPts val="4022"/>
              </a:lnSpc>
            </a:pPr>
            <a:r>
              <a:rPr lang="en-US" sz="2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Python</a:t>
            </a:r>
          </a:p>
          <a:p>
            <a:pPr algn="ctr">
              <a:lnSpc>
                <a:spcPts val="4022"/>
              </a:lnSpc>
            </a:pPr>
          </a:p>
          <a:p>
            <a:pPr algn="ctr">
              <a:lnSpc>
                <a:spcPts val="4022"/>
              </a:lnSpc>
            </a:pPr>
            <a:r>
              <a:rPr lang="en-US" sz="2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Purpose:</a:t>
            </a:r>
          </a:p>
          <a:p>
            <a:pPr algn="ctr">
              <a:lnSpc>
                <a:spcPts val="4022"/>
              </a:lnSpc>
            </a:pPr>
            <a:r>
              <a:rPr lang="en-US" sz="2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Authenticate users using a username and password.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33" r="0" b="-107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571378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60939" y="5095982"/>
            <a:ext cx="5166618" cy="233976"/>
          </a:xfrm>
          <a:custGeom>
            <a:avLst/>
            <a:gdLst/>
            <a:ahLst/>
            <a:cxnLst/>
            <a:rect r="r" b="b" t="t" l="l"/>
            <a:pathLst>
              <a:path h="233976" w="5166618">
                <a:moveTo>
                  <a:pt x="0" y="0"/>
                </a:moveTo>
                <a:lnTo>
                  <a:pt x="5166618" y="0"/>
                </a:lnTo>
                <a:lnTo>
                  <a:pt x="5166618" y="233976"/>
                </a:lnTo>
                <a:lnTo>
                  <a:pt x="0" y="23397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-17522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442456" y="5329958"/>
            <a:ext cx="1652831" cy="1439466"/>
          </a:xfrm>
          <a:custGeom>
            <a:avLst/>
            <a:gdLst/>
            <a:ahLst/>
            <a:cxnLst/>
            <a:rect r="r" b="b" t="t" l="l"/>
            <a:pathLst>
              <a:path h="1439466" w="1652831">
                <a:moveTo>
                  <a:pt x="0" y="0"/>
                </a:moveTo>
                <a:lnTo>
                  <a:pt x="1652831" y="0"/>
                </a:lnTo>
                <a:lnTo>
                  <a:pt x="1652831" y="1439466"/>
                </a:lnTo>
                <a:lnTo>
                  <a:pt x="0" y="143946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110575" y="7494582"/>
            <a:ext cx="787628" cy="1074926"/>
          </a:xfrm>
          <a:custGeom>
            <a:avLst/>
            <a:gdLst/>
            <a:ahLst/>
            <a:cxnLst/>
            <a:rect r="r" b="b" t="t" l="l"/>
            <a:pathLst>
              <a:path h="1074926" w="787628">
                <a:moveTo>
                  <a:pt x="0" y="0"/>
                </a:moveTo>
                <a:lnTo>
                  <a:pt x="787627" y="0"/>
                </a:lnTo>
                <a:lnTo>
                  <a:pt x="787627" y="1074926"/>
                </a:lnTo>
                <a:lnTo>
                  <a:pt x="0" y="107492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2126640"/>
            <a:ext cx="16230600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VULNERABILITY 1: HARDCODED CREDENTIALS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00524" y="3237651"/>
            <a:ext cx="6323113" cy="54065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3"/>
              </a:lnSpc>
            </a:pPr>
            <a:r>
              <a:rPr lang="en-US" sz="2787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The username and password are directly written inside the source code.</a:t>
            </a:r>
          </a:p>
          <a:p>
            <a:pPr algn="l">
              <a:lnSpc>
                <a:spcPts val="3903"/>
              </a:lnSpc>
            </a:pPr>
          </a:p>
          <a:p>
            <a:pPr algn="l">
              <a:lnSpc>
                <a:spcPts val="3903"/>
              </a:lnSpc>
            </a:pPr>
            <a:r>
              <a:rPr lang="en-US" sz="2787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Example:</a:t>
            </a:r>
          </a:p>
          <a:p>
            <a:pPr algn="l">
              <a:lnSpc>
                <a:spcPts val="3903"/>
              </a:lnSpc>
            </a:pPr>
          </a:p>
          <a:p>
            <a:pPr algn="l">
              <a:lnSpc>
                <a:spcPts val="3903"/>
              </a:lnSpc>
            </a:pPr>
            <a:r>
              <a:rPr lang="en-US" sz="2787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username = "admin"</a:t>
            </a:r>
          </a:p>
          <a:p>
            <a:pPr algn="l">
              <a:lnSpc>
                <a:spcPts val="3903"/>
              </a:lnSpc>
            </a:pPr>
            <a:r>
              <a:rPr lang="en-US" sz="2787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password = "admin123"</a:t>
            </a:r>
          </a:p>
          <a:p>
            <a:pPr algn="l">
              <a:lnSpc>
                <a:spcPts val="3903"/>
              </a:lnSpc>
            </a:pPr>
          </a:p>
          <a:p>
            <a:pPr algn="l">
              <a:lnSpc>
                <a:spcPts val="3903"/>
              </a:lnSpc>
            </a:pPr>
            <a:r>
              <a:rPr lang="en-US" sz="2787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Risk:</a:t>
            </a:r>
          </a:p>
          <a:p>
            <a:pPr algn="l">
              <a:lnSpc>
                <a:spcPts val="3903"/>
              </a:lnSpc>
            </a:pPr>
            <a:r>
              <a:rPr lang="en-US" sz="2787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Anyone with access to the code can view the credentials.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33" r="0" b="-107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571378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2189163" y="5212970"/>
            <a:ext cx="2620982" cy="233976"/>
          </a:xfrm>
          <a:custGeom>
            <a:avLst/>
            <a:gdLst/>
            <a:ahLst/>
            <a:cxnLst/>
            <a:rect r="r" b="b" t="t" l="l"/>
            <a:pathLst>
              <a:path h="233976" w="2620982">
                <a:moveTo>
                  <a:pt x="0" y="0"/>
                </a:moveTo>
                <a:lnTo>
                  <a:pt x="2620982" y="0"/>
                </a:lnTo>
                <a:lnTo>
                  <a:pt x="2620982" y="233976"/>
                </a:lnTo>
                <a:lnTo>
                  <a:pt x="0" y="23397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-97125" t="-17522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442456" y="4423767"/>
            <a:ext cx="1652831" cy="1439466"/>
          </a:xfrm>
          <a:custGeom>
            <a:avLst/>
            <a:gdLst/>
            <a:ahLst/>
            <a:cxnLst/>
            <a:rect r="r" b="b" t="t" l="l"/>
            <a:pathLst>
              <a:path h="1439466" w="1652831">
                <a:moveTo>
                  <a:pt x="0" y="0"/>
                </a:moveTo>
                <a:lnTo>
                  <a:pt x="1652831" y="0"/>
                </a:lnTo>
                <a:lnTo>
                  <a:pt x="1652831" y="1439466"/>
                </a:lnTo>
                <a:lnTo>
                  <a:pt x="0" y="143946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860596" y="6513746"/>
            <a:ext cx="1287584" cy="992611"/>
          </a:xfrm>
          <a:custGeom>
            <a:avLst/>
            <a:gdLst/>
            <a:ahLst/>
            <a:cxnLst/>
            <a:rect r="r" b="b" t="t" l="l"/>
            <a:pathLst>
              <a:path h="992611" w="1287584">
                <a:moveTo>
                  <a:pt x="0" y="0"/>
                </a:moveTo>
                <a:lnTo>
                  <a:pt x="1287585" y="0"/>
                </a:lnTo>
                <a:lnTo>
                  <a:pt x="1287585" y="992611"/>
                </a:lnTo>
                <a:lnTo>
                  <a:pt x="0" y="992611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028700" y="2126640"/>
            <a:ext cx="16230600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VULNERABILITY 2: PLAINTEXT PASSWORDS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73450" y="3550961"/>
            <a:ext cx="6323113" cy="3925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3"/>
              </a:lnSpc>
            </a:pPr>
            <a:r>
              <a:rPr lang="en-US" sz="2787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Passwords are stored in plain text.</a:t>
            </a:r>
          </a:p>
          <a:p>
            <a:pPr algn="l">
              <a:lnSpc>
                <a:spcPts val="3903"/>
              </a:lnSpc>
            </a:pPr>
          </a:p>
          <a:p>
            <a:pPr algn="l">
              <a:lnSpc>
                <a:spcPts val="3903"/>
              </a:lnSpc>
            </a:pPr>
            <a:r>
              <a:rPr lang="en-US" sz="2787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Example:</a:t>
            </a:r>
          </a:p>
          <a:p>
            <a:pPr algn="l">
              <a:lnSpc>
                <a:spcPts val="3903"/>
              </a:lnSpc>
            </a:pPr>
            <a:r>
              <a:rPr lang="en-US" sz="2787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admin123</a:t>
            </a:r>
          </a:p>
          <a:p>
            <a:pPr algn="l">
              <a:lnSpc>
                <a:spcPts val="3903"/>
              </a:lnSpc>
            </a:pPr>
          </a:p>
          <a:p>
            <a:pPr algn="l">
              <a:lnSpc>
                <a:spcPts val="3903"/>
              </a:lnSpc>
            </a:pPr>
            <a:r>
              <a:rPr lang="en-US" sz="2787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Risk:</a:t>
            </a:r>
          </a:p>
          <a:p>
            <a:pPr algn="l">
              <a:lnSpc>
                <a:spcPts val="3903"/>
              </a:lnSpc>
            </a:pPr>
            <a:r>
              <a:rPr lang="en-US" sz="2787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Passwords can be easily exposed if the source code is leaked.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733" r="0" b="-1071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571378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178180" y="4563222"/>
            <a:ext cx="1213508" cy="1160555"/>
          </a:xfrm>
          <a:custGeom>
            <a:avLst/>
            <a:gdLst/>
            <a:ahLst/>
            <a:cxnLst/>
            <a:rect r="r" b="b" t="t" l="l"/>
            <a:pathLst>
              <a:path h="1160555" w="1213508">
                <a:moveTo>
                  <a:pt x="0" y="0"/>
                </a:moveTo>
                <a:lnTo>
                  <a:pt x="1213508" y="0"/>
                </a:lnTo>
                <a:lnTo>
                  <a:pt x="1213508" y="1160556"/>
                </a:lnTo>
                <a:lnTo>
                  <a:pt x="0" y="116055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314278" y="4565026"/>
            <a:ext cx="1998636" cy="1529865"/>
          </a:xfrm>
          <a:custGeom>
            <a:avLst/>
            <a:gdLst/>
            <a:ahLst/>
            <a:cxnLst/>
            <a:rect r="r" b="b" t="t" l="l"/>
            <a:pathLst>
              <a:path h="1529865" w="1998636">
                <a:moveTo>
                  <a:pt x="0" y="0"/>
                </a:moveTo>
                <a:lnTo>
                  <a:pt x="1998635" y="0"/>
                </a:lnTo>
                <a:lnTo>
                  <a:pt x="1998635" y="1529864"/>
                </a:lnTo>
                <a:lnTo>
                  <a:pt x="0" y="152986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487277" y="2378348"/>
            <a:ext cx="17313445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VULNERABILITY 3: NO BRUTE FORCE PROTECTION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73450" y="3550961"/>
            <a:ext cx="6323113" cy="2938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3"/>
              </a:lnSpc>
            </a:pPr>
            <a:r>
              <a:rPr lang="en-US" sz="2787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The application allows unlimited login attempts.</a:t>
            </a:r>
          </a:p>
          <a:p>
            <a:pPr algn="l">
              <a:lnSpc>
                <a:spcPts val="3903"/>
              </a:lnSpc>
            </a:pPr>
          </a:p>
          <a:p>
            <a:pPr algn="l">
              <a:lnSpc>
                <a:spcPts val="3903"/>
              </a:lnSpc>
            </a:pPr>
            <a:r>
              <a:rPr lang="en-US" sz="2787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Risk:</a:t>
            </a:r>
          </a:p>
          <a:p>
            <a:pPr algn="l">
              <a:lnSpc>
                <a:spcPts val="3903"/>
              </a:lnSpc>
            </a:pPr>
            <a:r>
              <a:rPr lang="en-US" sz="2787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Attackers can repeatedly guess passwords until they gain access.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514231" y="3948436"/>
            <a:ext cx="1486860" cy="1537168"/>
          </a:xfrm>
          <a:custGeom>
            <a:avLst/>
            <a:gdLst/>
            <a:ahLst/>
            <a:cxnLst/>
            <a:rect r="r" b="b" t="t" l="l"/>
            <a:pathLst>
              <a:path h="1537168" w="1486860">
                <a:moveTo>
                  <a:pt x="0" y="0"/>
                </a:moveTo>
                <a:lnTo>
                  <a:pt x="1486861" y="0"/>
                </a:lnTo>
                <a:lnTo>
                  <a:pt x="1486861" y="1537167"/>
                </a:lnTo>
                <a:lnTo>
                  <a:pt x="0" y="153716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083997" y="4557534"/>
            <a:ext cx="1511909" cy="1856139"/>
          </a:xfrm>
          <a:custGeom>
            <a:avLst/>
            <a:gdLst/>
            <a:ahLst/>
            <a:cxnLst/>
            <a:rect r="r" b="b" t="t" l="l"/>
            <a:pathLst>
              <a:path h="1856139" w="1511909">
                <a:moveTo>
                  <a:pt x="0" y="0"/>
                </a:moveTo>
                <a:lnTo>
                  <a:pt x="1511909" y="0"/>
                </a:lnTo>
                <a:lnTo>
                  <a:pt x="1511909" y="1856139"/>
                </a:lnTo>
                <a:lnTo>
                  <a:pt x="0" y="185613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520048" y="2026332"/>
            <a:ext cx="11247903" cy="1402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10"/>
              </a:lnSpc>
            </a:pPr>
            <a:r>
              <a:rPr lang="en-US" b="true" sz="815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RECOMMENDATIONS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47487" y="3781546"/>
            <a:ext cx="10734662" cy="4870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7"/>
              </a:lnSpc>
            </a:pPr>
            <a:r>
              <a:rPr lang="en-US" sz="306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1. Store passwords securely using hashing.</a:t>
            </a:r>
          </a:p>
          <a:p>
            <a:pPr algn="l">
              <a:lnSpc>
                <a:spcPts val="4297"/>
              </a:lnSpc>
            </a:pPr>
          </a:p>
          <a:p>
            <a:pPr algn="l">
              <a:lnSpc>
                <a:spcPts val="4297"/>
              </a:lnSpc>
            </a:pPr>
            <a:r>
              <a:rPr lang="en-US" sz="306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2. Avoid hardcoded credentials.</a:t>
            </a:r>
          </a:p>
          <a:p>
            <a:pPr algn="l">
              <a:lnSpc>
                <a:spcPts val="4297"/>
              </a:lnSpc>
            </a:pPr>
          </a:p>
          <a:p>
            <a:pPr algn="l">
              <a:lnSpc>
                <a:spcPts val="4297"/>
              </a:lnSpc>
            </a:pPr>
            <a:r>
              <a:rPr lang="en-US" sz="306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3. Implement account lockout after multiple failed attempts.</a:t>
            </a:r>
          </a:p>
          <a:p>
            <a:pPr algn="l">
              <a:lnSpc>
                <a:spcPts val="4297"/>
              </a:lnSpc>
            </a:pPr>
          </a:p>
          <a:p>
            <a:pPr algn="l">
              <a:lnSpc>
                <a:spcPts val="4297"/>
              </a:lnSpc>
            </a:pPr>
            <a:r>
              <a:rPr lang="en-US" sz="306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4. Validate user inputs.</a:t>
            </a:r>
          </a:p>
          <a:p>
            <a:pPr algn="l">
              <a:lnSpc>
                <a:spcPts val="4297"/>
              </a:lnSpc>
            </a:pPr>
          </a:p>
          <a:p>
            <a:pPr algn="l">
              <a:lnSpc>
                <a:spcPts val="4297"/>
              </a:lnSpc>
            </a:pPr>
            <a:r>
              <a:rPr lang="en-US" sz="3069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5. Store sensitive data in secure databases.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903031" y="7583623"/>
            <a:ext cx="1202715" cy="1344498"/>
          </a:xfrm>
          <a:custGeom>
            <a:avLst/>
            <a:gdLst/>
            <a:ahLst/>
            <a:cxnLst/>
            <a:rect r="r" b="b" t="t" l="l"/>
            <a:pathLst>
              <a:path h="1344498" w="1202715">
                <a:moveTo>
                  <a:pt x="0" y="0"/>
                </a:moveTo>
                <a:lnTo>
                  <a:pt x="1202715" y="0"/>
                </a:lnTo>
                <a:lnTo>
                  <a:pt x="1202715" y="1344498"/>
                </a:lnTo>
                <a:lnTo>
                  <a:pt x="0" y="1344498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3568787" y="4648093"/>
            <a:ext cx="1847723" cy="1783893"/>
          </a:xfrm>
          <a:custGeom>
            <a:avLst/>
            <a:gdLst/>
            <a:ahLst/>
            <a:cxnLst/>
            <a:rect r="r" b="b" t="t" l="l"/>
            <a:pathLst>
              <a:path h="1783893" w="1847723">
                <a:moveTo>
                  <a:pt x="0" y="0"/>
                </a:moveTo>
                <a:lnTo>
                  <a:pt x="1847723" y="0"/>
                </a:lnTo>
                <a:lnTo>
                  <a:pt x="1847723" y="1783892"/>
                </a:lnTo>
                <a:lnTo>
                  <a:pt x="0" y="178389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61214" y="2529885"/>
            <a:ext cx="13565571" cy="1402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10"/>
              </a:lnSpc>
            </a:pPr>
            <a:r>
              <a:rPr lang="en-US" b="true" sz="815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SECURE CODING EXAMPLE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22532" y="4126442"/>
            <a:ext cx="7100985" cy="345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1"/>
              </a:lnSpc>
            </a:pPr>
            <a:r>
              <a:rPr lang="en-US" sz="2451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import hashlib</a:t>
            </a:r>
          </a:p>
          <a:p>
            <a:pPr algn="ctr">
              <a:lnSpc>
                <a:spcPts val="3431"/>
              </a:lnSpc>
            </a:pPr>
          </a:p>
          <a:p>
            <a:pPr algn="ctr">
              <a:lnSpc>
                <a:spcPts val="3431"/>
              </a:lnSpc>
            </a:pPr>
            <a:r>
              <a:rPr lang="en-US" sz="2451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password = "admin123"</a:t>
            </a:r>
          </a:p>
          <a:p>
            <a:pPr algn="ctr">
              <a:lnSpc>
                <a:spcPts val="3431"/>
              </a:lnSpc>
            </a:pPr>
          </a:p>
          <a:p>
            <a:pPr algn="ctr">
              <a:lnSpc>
                <a:spcPts val="3431"/>
              </a:lnSpc>
            </a:pPr>
            <a:r>
              <a:rPr lang="en-US" sz="2451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hashed_password = hashlib.sha256(password.encode()).hexdigest()</a:t>
            </a:r>
          </a:p>
          <a:p>
            <a:pPr algn="ctr">
              <a:lnSpc>
                <a:spcPts val="3431"/>
              </a:lnSpc>
            </a:pPr>
          </a:p>
          <a:p>
            <a:pPr algn="ctr">
              <a:lnSpc>
                <a:spcPts val="3431"/>
              </a:lnSpc>
            </a:pPr>
            <a:r>
              <a:rPr lang="en-US" sz="2451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print(hashed_password)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00524" y="7869373"/>
            <a:ext cx="7100985" cy="842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31"/>
              </a:lnSpc>
            </a:pPr>
            <a:r>
              <a:rPr lang="en-US" sz="2451" b="true">
                <a:solidFill>
                  <a:srgbClr val="000000"/>
                </a:solidFill>
                <a:latin typeface="Koho Bold"/>
                <a:ea typeface="Koho Bold"/>
                <a:cs typeface="Koho Bold"/>
                <a:sym typeface="Koho Bold"/>
              </a:rPr>
              <a:t>Hashing protects passwords from being exposed directly.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848582" y="5329958"/>
            <a:ext cx="1511909" cy="1856139"/>
          </a:xfrm>
          <a:custGeom>
            <a:avLst/>
            <a:gdLst/>
            <a:ahLst/>
            <a:cxnLst/>
            <a:rect r="r" b="b" t="t" l="l"/>
            <a:pathLst>
              <a:path h="1856139" w="1511909">
                <a:moveTo>
                  <a:pt x="0" y="0"/>
                </a:moveTo>
                <a:lnTo>
                  <a:pt x="1511909" y="0"/>
                </a:lnTo>
                <a:lnTo>
                  <a:pt x="1511909" y="1856139"/>
                </a:lnTo>
                <a:lnTo>
                  <a:pt x="0" y="185613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897351" y="2529885"/>
            <a:ext cx="8493297" cy="1402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10"/>
              </a:lnSpc>
            </a:pPr>
            <a:r>
              <a:rPr lang="en-US" b="true" sz="8150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CONCLUSION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215751" y="4173269"/>
            <a:ext cx="6415006" cy="3497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2"/>
              </a:lnSpc>
            </a:pPr>
            <a:r>
              <a:rPr lang="en-US" sz="3308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The reviewed application contains multiple security weaknesses.</a:t>
            </a:r>
          </a:p>
          <a:p>
            <a:pPr algn="l">
              <a:lnSpc>
                <a:spcPts val="4632"/>
              </a:lnSpc>
            </a:pPr>
          </a:p>
          <a:p>
            <a:pPr algn="l">
              <a:lnSpc>
                <a:spcPts val="4632"/>
              </a:lnSpc>
            </a:pPr>
            <a:r>
              <a:rPr lang="en-US" sz="3308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Applying secure coding practices significantly improves application security and protects user data.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600491" y="7137907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5" y="0"/>
                </a:lnTo>
                <a:lnTo>
                  <a:pt x="8385425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95287" y="-4797584"/>
            <a:ext cx="8385425" cy="7519424"/>
          </a:xfrm>
          <a:custGeom>
            <a:avLst/>
            <a:gdLst/>
            <a:ahLst/>
            <a:cxnLst/>
            <a:rect r="r" b="b" t="t" l="l"/>
            <a:pathLst>
              <a:path h="7519424" w="8385425">
                <a:moveTo>
                  <a:pt x="0" y="0"/>
                </a:moveTo>
                <a:lnTo>
                  <a:pt x="8385426" y="0"/>
                </a:lnTo>
                <a:lnTo>
                  <a:pt x="8385426" y="7519424"/>
                </a:lnTo>
                <a:lnTo>
                  <a:pt x="0" y="75194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1739449">
            <a:off x="12609182" y="6907545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739449">
            <a:off x="-2725325" y="-3362204"/>
            <a:ext cx="8105660" cy="6172200"/>
          </a:xfrm>
          <a:custGeom>
            <a:avLst/>
            <a:gdLst/>
            <a:ahLst/>
            <a:cxnLst/>
            <a:rect r="r" b="b" t="t" l="l"/>
            <a:pathLst>
              <a:path h="6172200" w="8105660">
                <a:moveTo>
                  <a:pt x="8105660" y="0"/>
                </a:moveTo>
                <a:lnTo>
                  <a:pt x="0" y="0"/>
                </a:lnTo>
                <a:lnTo>
                  <a:pt x="0" y="6172200"/>
                </a:lnTo>
                <a:lnTo>
                  <a:pt x="8105660" y="6172200"/>
                </a:lnTo>
                <a:lnTo>
                  <a:pt x="810566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634754" y="8840219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40" y="0"/>
                </a:lnTo>
                <a:lnTo>
                  <a:pt x="613154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963748" y="-1879730"/>
            <a:ext cx="6131540" cy="4114800"/>
          </a:xfrm>
          <a:custGeom>
            <a:avLst/>
            <a:gdLst/>
            <a:ahLst/>
            <a:cxnLst/>
            <a:rect r="r" b="b" t="t" l="l"/>
            <a:pathLst>
              <a:path h="4114800" w="6131540">
                <a:moveTo>
                  <a:pt x="0" y="0"/>
                </a:moveTo>
                <a:lnTo>
                  <a:pt x="6131539" y="0"/>
                </a:lnTo>
                <a:lnTo>
                  <a:pt x="613153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3324018" y="5878845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747809" y="-4390904"/>
            <a:ext cx="7828407" cy="8229600"/>
          </a:xfrm>
          <a:custGeom>
            <a:avLst/>
            <a:gdLst/>
            <a:ahLst/>
            <a:cxnLst/>
            <a:rect r="r" b="b" t="t" l="l"/>
            <a:pathLst>
              <a:path h="8229600" w="7828407">
                <a:moveTo>
                  <a:pt x="0" y="0"/>
                </a:moveTo>
                <a:lnTo>
                  <a:pt x="7828407" y="0"/>
                </a:lnTo>
                <a:lnTo>
                  <a:pt x="782840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504389" y="-2940411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0" y="0"/>
                </a:lnTo>
                <a:lnTo>
                  <a:pt x="528771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313595" y="8229600"/>
            <a:ext cx="5287710" cy="4114800"/>
          </a:xfrm>
          <a:custGeom>
            <a:avLst/>
            <a:gdLst/>
            <a:ahLst/>
            <a:cxnLst/>
            <a:rect r="r" b="b" t="t" l="l"/>
            <a:pathLst>
              <a:path h="4114800" w="5287710">
                <a:moveTo>
                  <a:pt x="0" y="0"/>
                </a:moveTo>
                <a:lnTo>
                  <a:pt x="5287711" y="0"/>
                </a:lnTo>
                <a:lnTo>
                  <a:pt x="528771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634754" y="3954369"/>
            <a:ext cx="13018493" cy="2140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89"/>
              </a:lnSpc>
            </a:pPr>
            <a:r>
              <a:rPr lang="en-US" b="true" sz="12492">
                <a:solidFill>
                  <a:srgbClr val="000000"/>
                </a:solidFill>
                <a:latin typeface="Aileron Bold"/>
                <a:ea typeface="Aileron Bold"/>
                <a:cs typeface="Aileron Bold"/>
                <a:sym typeface="Aileron Bold"/>
              </a:rPr>
              <a:t>THANK YOU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882925" y="6151917"/>
            <a:ext cx="8522150" cy="828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22"/>
              </a:lnSpc>
            </a:pPr>
            <a:r>
              <a:rPr lang="en-US" sz="4873">
                <a:solidFill>
                  <a:srgbClr val="000000"/>
                </a:solidFill>
                <a:latin typeface="Koho"/>
                <a:ea typeface="Koho"/>
                <a:cs typeface="Koho"/>
                <a:sym typeface="Koho"/>
              </a:rPr>
              <a:t>By Om Mehra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DAHNCvTJjBM</dc:identifier>
  <dcterms:modified xsi:type="dcterms:W3CDTF">2011-08-01T06:04:30Z</dcterms:modified>
  <cp:revision>1</cp:revision>
  <dc:title>Security coding review</dc:title>
</cp:coreProperties>
</file>